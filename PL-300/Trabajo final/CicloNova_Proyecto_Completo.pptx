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4" r:id="rId10"/>
    <p:sldId id="285" r:id="rId11"/>
    <p:sldId id="264" r:id="rId12"/>
    <p:sldId id="265" r:id="rId13"/>
    <p:sldId id="266" r:id="rId14"/>
    <p:sldId id="267" r:id="rId15"/>
    <p:sldId id="269" r:id="rId16"/>
    <p:sldId id="286" r:id="rId17"/>
    <p:sldId id="268" r:id="rId18"/>
    <p:sldId id="280" r:id="rId19"/>
    <p:sldId id="279" r:id="rId20"/>
    <p:sldId id="282" r:id="rId21"/>
    <p:sldId id="28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5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200">
                <a:solidFill>
                  <a:srgbClr val="FFFFFF"/>
                </a:solidFill>
              </a:rPr>
              <a:t>CicloNova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Desde la Ingesta en SQL Server hasta el Dashboard en Power BI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19797" y="586855"/>
            <a:ext cx="3172575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CicloNova: Laboratorio Data Warehouse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Construcción de la Arquitectura Medallón y Modelo en Estrella en SSMS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52297" y="457201"/>
            <a:ext cx="4360680" cy="15568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latin typeface="+mj-lt"/>
                <a:ea typeface="+mj-ea"/>
                <a:cs typeface="+mj-cs"/>
              </a:rPr>
              <a:t>Paso 1: Creación de la Base de Datos y Esquemas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2297" y="2277036"/>
            <a:ext cx="4360679" cy="3461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Ejecución del script inicial para crear la base de datos 'DataWarehouse'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y los esquemas 'bronze', 'silver' y 'gold', estableciendo la estructura base de la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Arquitectura Medallón.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824" y="1190875"/>
            <a:ext cx="2784652" cy="14271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71" y="3375824"/>
            <a:ext cx="2556424" cy="22432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6115049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58379" y="457201"/>
            <a:ext cx="3049252" cy="1933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700" b="1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latin typeface="+mj-lt"/>
                <a:ea typeface="+mj-ea"/>
                <a:cs typeface="+mj-cs"/>
              </a:rPr>
              <a:t>Paso 1.1: Verificación de la Estructura en SSMS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378" y="2714625"/>
            <a:ext cx="3049251" cy="302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Resumen: Comprobación visual en el Explorador de Objetos de SSMS confirmando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la creación exitosa de la base de datos y la correcta jerarquía de los esquemas de seguridad.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19" y="1332918"/>
            <a:ext cx="2011541" cy="39636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359" y="1955579"/>
            <a:ext cx="2011541" cy="27182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5510253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Paso 2: Creación de Tablas en Capa Bronze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92" y="716731"/>
            <a:ext cx="6233615" cy="25869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5192" y="3833199"/>
            <a:ext cx="6249619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Resumen: Ejecución del script DDL para definir las seis tablas origen (CRM y ERP)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dentro del esquema Bronze, preparándolas para recibir los datos en crudo.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58379" y="457201"/>
            <a:ext cx="3049252" cy="1933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>
                <a:latin typeface="+mj-lt"/>
                <a:ea typeface="+mj-ea"/>
                <a:cs typeface="+mj-cs"/>
              </a:rPr>
              <a:t>Paso 2.1: Ingesta Manual y Validación (Capa Bronze)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378" y="2714625"/>
            <a:ext cx="3049251" cy="302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Resumen: Uso de BULK INSERT para cargar los archivos CSV en las tablas Bronze.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Validación posterior confirmando la carga de registros (ej. 18.494 clientes).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19" y="2550346"/>
            <a:ext cx="2011541" cy="1528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359" y="2990368"/>
            <a:ext cx="2011541" cy="6487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58379" y="457201"/>
            <a:ext cx="3049252" cy="1933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>
                <a:latin typeface="+mj-lt"/>
                <a:ea typeface="+mj-ea"/>
                <a:cs typeface="+mj-cs"/>
              </a:rPr>
              <a:t>Paso 2.2: Verificación de Tablas Bronze Creadas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378" y="2714625"/>
            <a:ext cx="3049251" cy="302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Resumen: Confirmación en el Explorador de Objetos de la existencia de todas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las tablas necesarias (crm_cust_info, erp_loc_a101, etc.) bajo el esquema Bronze.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19" y="2021136"/>
            <a:ext cx="2011541" cy="25871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359" y="2138389"/>
            <a:ext cx="2011541" cy="235267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62287" y="499397"/>
            <a:ext cx="4447066" cy="16401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3: Creación de Tablas en Capa Silver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2287" y="2423821"/>
            <a:ext cx="4447067" cy="351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Resumen: Ejecución del script para crear las tablas destino en la capa Silver, preparadas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para almacenar los datos limpios, estandarizados y con metadatos técnicos (dwh_create_date).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129" y="2252719"/>
            <a:ext cx="2823882" cy="22449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F249E0-8DE3-EC96-7515-6D04930D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7" y="457200"/>
            <a:ext cx="795130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7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1" cy="1576446"/>
            <a:chOff x="0" y="0"/>
            <a:chExt cx="12192002" cy="157644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">
            <a:extLst>
              <a:ext uri="{FF2B5EF4-FFF2-40B4-BE49-F238E27FC236}">
                <a16:creationId xmlns:a16="http://schemas.microsoft.com/office/drawing/2014/main" id="{F73F08FC-35BB-BE9E-E700-0E4631A8D547}"/>
              </a:ext>
            </a:extLst>
          </p:cNvPr>
          <p:cNvSpPr txBox="1"/>
          <p:nvPr/>
        </p:nvSpPr>
        <p:spPr>
          <a:xfrm>
            <a:off x="1028700" y="407695"/>
            <a:ext cx="7293022" cy="834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200" b="1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Paso 4:  Creación y verificación de Tabla Gold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F21FEF-ECBD-6A6C-7D41-7142198F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34" y="2200459"/>
            <a:ext cx="2170992" cy="21330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F22456-74BC-FBBB-6850-D5EA86DE9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596" y="2200459"/>
            <a:ext cx="2117003" cy="21330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310DB0-55C7-ECA3-BDF8-8A6577874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971" y="2200459"/>
            <a:ext cx="2187692" cy="2133001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84201407-D9C5-26BE-4869-E2481FA8B9CE}"/>
              </a:ext>
            </a:extLst>
          </p:cNvPr>
          <p:cNvSpPr txBox="1"/>
          <p:nvPr/>
        </p:nvSpPr>
        <p:spPr>
          <a:xfrm>
            <a:off x="1028700" y="4786744"/>
            <a:ext cx="7086600" cy="1442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Resumen: Ejecución del script para crear las tablas destino en la capa Gold, preparadas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para almacenar los datos limpios, estandarizados y con metadatos técnicos.</a:t>
            </a:r>
          </a:p>
        </p:txBody>
      </p:sp>
    </p:spTree>
    <p:extLst>
      <p:ext uri="{BB962C8B-B14F-4D97-AF65-F5344CB8AC3E}">
        <p14:creationId xmlns:p14="http://schemas.microsoft.com/office/powerpoint/2010/main" val="392806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0" y="4699545"/>
            <a:ext cx="762000" cy="3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09490" y="1129754"/>
            <a:ext cx="2622193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350" b="1" dirty="0">
                <a:solidFill>
                  <a:srgbClr val="F59E0B"/>
                </a:solidFill>
                <a:latin typeface="Inter"/>
              </a:rPr>
              <a:t>LABORAORIO PRÁCTICO -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21" y="2050761"/>
            <a:ext cx="895315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rgbClr val="FF0000"/>
              </a:solidFill>
            </a:endParaRPr>
          </a:p>
          <a:p>
            <a:r>
              <a:rPr sz="4800" b="1" dirty="0" err="1">
                <a:solidFill>
                  <a:srgbClr val="FF0000"/>
                </a:solidFill>
                <a:latin typeface="Inter"/>
              </a:rPr>
              <a:t>Conexión</a:t>
            </a:r>
            <a:r>
              <a:rPr sz="4800" b="1" dirty="0">
                <a:solidFill>
                  <a:srgbClr val="FF0000"/>
                </a:solidFill>
                <a:latin typeface="Inter"/>
              </a:rPr>
              <a:t> y </a:t>
            </a:r>
            <a:r>
              <a:rPr sz="4800" b="1" dirty="0" err="1">
                <a:solidFill>
                  <a:srgbClr val="FF0000"/>
                </a:solidFill>
                <a:latin typeface="Inter"/>
              </a:rPr>
              <a:t>Modelado</a:t>
            </a:r>
            <a:r>
              <a:rPr sz="4800" b="1" dirty="0">
                <a:solidFill>
                  <a:srgbClr val="FF0000"/>
                </a:solidFill>
                <a:latin typeface="Inter"/>
              </a:rPr>
              <a:t> </a:t>
            </a:r>
            <a:r>
              <a:rPr sz="4800" b="1" dirty="0" err="1">
                <a:solidFill>
                  <a:srgbClr val="FF0000"/>
                </a:solidFill>
                <a:latin typeface="Inter"/>
              </a:rPr>
              <a:t>en</a:t>
            </a:r>
            <a:r>
              <a:rPr sz="4800" b="1" dirty="0">
                <a:solidFill>
                  <a:srgbClr val="FF0000"/>
                </a:solidFill>
                <a:latin typeface="Inter"/>
              </a:rPr>
              <a:t>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4890" y="4042320"/>
            <a:ext cx="45716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800" b="0" dirty="0">
                <a:solidFill>
                  <a:srgbClr val="94A3B8"/>
                </a:solidFill>
                <a:latin typeface="Inter"/>
              </a:rPr>
              <a:t>De SQL S</a:t>
            </a:r>
            <a:r>
              <a:rPr lang="es-ES" sz="1800" b="0" dirty="0">
                <a:solidFill>
                  <a:srgbClr val="94A3B8"/>
                </a:solidFill>
                <a:latin typeface="Inter"/>
              </a:rPr>
              <a:t>e</a:t>
            </a:r>
            <a:r>
              <a:rPr sz="1800" b="0" dirty="0" err="1">
                <a:solidFill>
                  <a:srgbClr val="94A3B8"/>
                </a:solidFill>
                <a:latin typeface="Inter"/>
              </a:rPr>
              <a:t>rver</a:t>
            </a:r>
            <a:r>
              <a:rPr sz="1800" b="0" dirty="0">
                <a:solidFill>
                  <a:srgbClr val="94A3B8"/>
                </a:solidFill>
                <a:latin typeface="Inter"/>
              </a:rPr>
              <a:t> a un </a:t>
            </a:r>
            <a:r>
              <a:rPr sz="1800" b="0" dirty="0" err="1">
                <a:solidFill>
                  <a:srgbClr val="94A3B8"/>
                </a:solidFill>
                <a:latin typeface="Inter"/>
              </a:rPr>
              <a:t>modelo</a:t>
            </a:r>
            <a:r>
              <a:rPr sz="1800" b="0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94A3B8"/>
                </a:solidFill>
                <a:latin typeface="Inter"/>
              </a:rPr>
              <a:t>analítico</a:t>
            </a:r>
            <a:r>
              <a:rPr sz="1800" b="0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94A3B8"/>
                </a:solidFill>
                <a:latin typeface="Inter"/>
              </a:rPr>
              <a:t>funcional</a:t>
            </a:r>
            <a:r>
              <a:rPr sz="1800" b="0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44" y="0"/>
            <a:ext cx="7881256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98" y="1768767"/>
            <a:ext cx="6482329" cy="60922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76637"/>
            <a:ext cx="1714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7193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67237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052637"/>
            <a:ext cx="5181637" cy="200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350" b="1">
                <a:solidFill>
                  <a:srgbClr val="0F172A"/>
                </a:solidFill>
                <a:latin typeface="Inter"/>
              </a:rPr>
              <a:t>PASO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413" y="2314302"/>
            <a:ext cx="4452587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000" b="1" dirty="0" err="1">
                <a:solidFill>
                  <a:srgbClr val="0F172A"/>
                </a:solidFill>
                <a:latin typeface="Inter"/>
              </a:rPr>
              <a:t>Importación</a:t>
            </a:r>
            <a:r>
              <a:rPr sz="3000" b="1" dirty="0">
                <a:solidFill>
                  <a:srgbClr val="0F172A"/>
                </a:solidFill>
                <a:latin typeface="Inter"/>
              </a:rPr>
              <a:t> (Capa Gold)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228702"/>
            <a:ext cx="2600327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Conexión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</a:t>
            </a:r>
            <a:r>
              <a:rPr lang="es-ES" sz="1500" b="1" dirty="0">
                <a:solidFill>
                  <a:srgbClr val="334155"/>
                </a:solidFill>
                <a:latin typeface="Inter"/>
              </a:rPr>
              <a:t>i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recta a SQL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995" y="3771899"/>
            <a:ext cx="4321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>
                <a:solidFill>
                  <a:srgbClr val="334155"/>
                </a:solidFill>
                <a:latin typeface="Inter"/>
              </a:rPr>
              <a:t>Carga de vistas Gold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Power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500" y="4257763"/>
            <a:ext cx="406003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>
                <a:solidFill>
                  <a:srgbClr val="334155"/>
                </a:solidFill>
                <a:latin typeface="Inter"/>
              </a:rPr>
              <a:t>Cero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transformaciones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adicionales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67B73CC-97FA-D43D-7D14-8C8650FEB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798" y="557166"/>
            <a:ext cx="3217353" cy="308610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5F7D41E-CF2F-7527-530F-8608C3BE07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1388" y="1397259"/>
            <a:ext cx="1899775" cy="16338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953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06" y="0"/>
            <a:ext cx="8325393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266" y="2037612"/>
            <a:ext cx="7188583" cy="603958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64905">
            <a:off x="265395" y="3700579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64905">
            <a:off x="265395" y="4195879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7581" y="1306219"/>
            <a:ext cx="5181637" cy="200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350" b="1" dirty="0">
                <a:solidFill>
                  <a:srgbClr val="0F172A"/>
                </a:solidFill>
                <a:latin typeface="Inter"/>
              </a:rPr>
              <a:t>PASO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431" y="1596458"/>
            <a:ext cx="363817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s-ES" sz="3000" b="1" dirty="0">
                <a:solidFill>
                  <a:srgbClr val="0F172A"/>
                </a:solidFill>
                <a:latin typeface="Inter"/>
              </a:rPr>
              <a:t>Modelado de datos y </a:t>
            </a:r>
          </a:p>
          <a:p>
            <a:r>
              <a:rPr lang="es-ES" sz="3000" b="1" dirty="0">
                <a:solidFill>
                  <a:srgbClr val="0F172A"/>
                </a:solidFill>
                <a:latin typeface="Inter"/>
              </a:rPr>
              <a:t>Cardinalidad</a:t>
            </a:r>
            <a:endParaRPr sz="3000" b="1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824" y="3384420"/>
            <a:ext cx="4488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Reconocimiento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de claves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subrogadas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552" y="3951056"/>
            <a:ext cx="388143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Bloqueo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de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relaciones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duplicadas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486DAA0-2E39-1778-F42C-8805DD098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0266" y="79248"/>
            <a:ext cx="5625757" cy="27969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109" y="0"/>
            <a:ext cx="822089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532" y="-1337734"/>
            <a:ext cx="6217890" cy="624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676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76637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071937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000" y="1112126"/>
            <a:ext cx="5181637" cy="200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350" b="1" dirty="0">
                <a:solidFill>
                  <a:srgbClr val="0F172A"/>
                </a:solidFill>
                <a:latin typeface="Inter"/>
              </a:rPr>
              <a:t>PASO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" y="1484905"/>
            <a:ext cx="328230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000" b="1" dirty="0">
                <a:solidFill>
                  <a:srgbClr val="0F172A"/>
                </a:solidFill>
                <a:latin typeface="Inter"/>
              </a:rPr>
              <a:t>Model</a:t>
            </a:r>
            <a:r>
              <a:rPr lang="es-ES" sz="3000" b="1" dirty="0" err="1">
                <a:solidFill>
                  <a:srgbClr val="0F172A"/>
                </a:solidFill>
                <a:latin typeface="Inter"/>
              </a:rPr>
              <a:t>ado</a:t>
            </a:r>
            <a:r>
              <a:rPr lang="es-ES" sz="3000" b="1" dirty="0">
                <a:solidFill>
                  <a:srgbClr val="0F172A"/>
                </a:solidFill>
                <a:latin typeface="Inter"/>
              </a:rPr>
              <a:t> de datos</a:t>
            </a:r>
            <a:endParaRPr sz="3000" b="1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9175" y="3201632"/>
            <a:ext cx="33813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Esquema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estrella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validado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55847"/>
            <a:ext cx="275034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Relaciones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activas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(1:*).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264902"/>
            <a:ext cx="33813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>
                <a:solidFill>
                  <a:srgbClr val="334155"/>
                </a:solidFill>
                <a:latin typeface="Inter"/>
              </a:rPr>
              <a:t>Listo para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tabla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de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calendario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345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83" y="0"/>
            <a:ext cx="8247016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48037"/>
            <a:ext cx="1714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4333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38637"/>
            <a:ext cx="2857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281237"/>
            <a:ext cx="5181637" cy="200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350" b="1">
                <a:solidFill>
                  <a:srgbClr val="0F172A"/>
                </a:solidFill>
                <a:latin typeface="Inter"/>
              </a:rPr>
              <a:t>PASO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57462"/>
            <a:ext cx="54407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000" b="1">
                <a:solidFill>
                  <a:srgbClr val="0F172A"/>
                </a:solidFill>
                <a:latin typeface="Inter"/>
              </a:rPr>
              <a:t>Medidas DAX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033305"/>
            <a:ext cx="3619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Creación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de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cálculos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explícitos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556466"/>
            <a:ext cx="302418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>
                <a:solidFill>
                  <a:srgbClr val="334155"/>
                </a:solidFill>
                <a:latin typeface="Inter"/>
              </a:rPr>
              <a:t>Ventas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Totales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integradas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021792"/>
            <a:ext cx="389334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Pedidos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y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Clientes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contabilizados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CE27D18-3428-9BE1-1482-DF3558B2B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6837" y="62236"/>
            <a:ext cx="6622782" cy="246750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5EA64C8-2F74-BDA0-BB83-FF439717A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9283" y="2677623"/>
            <a:ext cx="6423086" cy="39826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66263D-384A-A3AA-FC8D-FAFBCC3E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1" y="304800"/>
            <a:ext cx="5800936" cy="359686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2BAE8DC-FE92-4565-123B-99F4C93E4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33" y="200670"/>
            <a:ext cx="4200736" cy="47130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20C26B1-7D2E-4E44-9C5F-F50826AA7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7" y="3808529"/>
            <a:ext cx="5800937" cy="337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92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3866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07" y="0"/>
            <a:ext cx="8325392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880" y="217714"/>
            <a:ext cx="6217890" cy="624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95687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90987"/>
            <a:ext cx="2000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168" y="823327"/>
            <a:ext cx="5181637" cy="200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350" b="1" dirty="0">
                <a:solidFill>
                  <a:srgbClr val="0F172A"/>
                </a:solidFill>
                <a:latin typeface="Inter"/>
              </a:rPr>
              <a:t>PASO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13" y="1622162"/>
            <a:ext cx="292695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000" b="1" dirty="0" err="1">
                <a:solidFill>
                  <a:srgbClr val="0F172A"/>
                </a:solidFill>
                <a:latin typeface="Inter"/>
              </a:rPr>
              <a:t>Lienzo</a:t>
            </a:r>
            <a:r>
              <a:rPr sz="3000" b="1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dirty="0" err="1">
                <a:solidFill>
                  <a:srgbClr val="0F172A"/>
                </a:solidFill>
                <a:latin typeface="Inter"/>
              </a:rPr>
              <a:t>en</a:t>
            </a:r>
            <a:r>
              <a:rPr lang="es-ES" sz="3000" b="1" dirty="0">
                <a:solidFill>
                  <a:srgbClr val="0F172A"/>
                </a:solidFill>
                <a:latin typeface="Inter"/>
              </a:rPr>
              <a:t> Blanco </a:t>
            </a:r>
          </a:p>
          <a:p>
            <a:r>
              <a:rPr lang="es-ES" sz="3000" b="1" dirty="0">
                <a:solidFill>
                  <a:srgbClr val="0F172A"/>
                </a:solidFill>
                <a:latin typeface="Inter"/>
              </a:rPr>
              <a:t>para el reporte</a:t>
            </a:r>
            <a:endParaRPr sz="3000" b="1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5621" y="3253412"/>
            <a:ext cx="365521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Transición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a la Vista de Informe.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246" y="3776355"/>
            <a:ext cx="3559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Paneles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de Datos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desplegados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82705" y="0"/>
            <a:ext cx="9525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82705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7" y="-161926"/>
            <a:ext cx="5050370" cy="5029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8630" y="494907"/>
            <a:ext cx="582095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3000" b="1" dirty="0">
                <a:solidFill>
                  <a:srgbClr val="0F172A"/>
                </a:solidFill>
                <a:latin typeface="Inter"/>
              </a:rPr>
              <a:t>Creación de tarjetas para el reporte</a:t>
            </a:r>
            <a:endParaRPr dirty="0"/>
          </a:p>
        </p:txBody>
      </p:sp>
      <p:pic>
        <p:nvPicPr>
          <p:cNvPr id="18" name="Picture 3" descr="image.png">
            <a:extLst>
              <a:ext uri="{FF2B5EF4-FFF2-40B4-BE49-F238E27FC236}">
                <a16:creationId xmlns:a16="http://schemas.microsoft.com/office/drawing/2014/main" id="{8D85AD2B-E586-3FDD-5345-3E66C712B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40" y="1743859"/>
            <a:ext cx="6217890" cy="6248400"/>
          </a:xfrm>
          <a:prstGeom prst="rect">
            <a:avLst/>
          </a:prstGeom>
        </p:spPr>
      </p:pic>
      <p:pic>
        <p:nvPicPr>
          <p:cNvPr id="20" name="Picture 4" descr="image.png">
            <a:extLst>
              <a:ext uri="{FF2B5EF4-FFF2-40B4-BE49-F238E27FC236}">
                <a16:creationId xmlns:a16="http://schemas.microsoft.com/office/drawing/2014/main" id="{71E99472-61C8-EE3F-259B-2C5C35B75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044" y="1915680"/>
            <a:ext cx="228600" cy="247650"/>
          </a:xfrm>
          <a:prstGeom prst="rect">
            <a:avLst/>
          </a:prstGeom>
        </p:spPr>
      </p:pic>
      <p:pic>
        <p:nvPicPr>
          <p:cNvPr id="22" name="Picture 5" descr="image.png">
            <a:extLst>
              <a:ext uri="{FF2B5EF4-FFF2-40B4-BE49-F238E27FC236}">
                <a16:creationId xmlns:a16="http://schemas.microsoft.com/office/drawing/2014/main" id="{76E3897D-16EA-550E-5AED-8D2886024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044" y="2410980"/>
            <a:ext cx="200025" cy="247650"/>
          </a:xfrm>
          <a:prstGeom prst="rect">
            <a:avLst/>
          </a:prstGeom>
        </p:spPr>
      </p:pic>
      <p:pic>
        <p:nvPicPr>
          <p:cNvPr id="24" name="Picture 6" descr="image.png">
            <a:extLst>
              <a:ext uri="{FF2B5EF4-FFF2-40B4-BE49-F238E27FC236}">
                <a16:creationId xmlns:a16="http://schemas.microsoft.com/office/drawing/2014/main" id="{7AA07282-F201-6156-215B-1E6F0C000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044" y="2906280"/>
            <a:ext cx="200025" cy="247650"/>
          </a:xfrm>
          <a:prstGeom prst="rect">
            <a:avLst/>
          </a:prstGeom>
        </p:spPr>
      </p:pic>
      <p:sp>
        <p:nvSpPr>
          <p:cNvPr id="28" name="TextBox 9">
            <a:extLst>
              <a:ext uri="{FF2B5EF4-FFF2-40B4-BE49-F238E27FC236}">
                <a16:creationId xmlns:a16="http://schemas.microsoft.com/office/drawing/2014/main" id="{FD68D131-2C3D-746C-E58E-AC2CC4AA2023}"/>
              </a:ext>
            </a:extLst>
          </p:cNvPr>
          <p:cNvSpPr txBox="1"/>
          <p:nvPr/>
        </p:nvSpPr>
        <p:spPr>
          <a:xfrm>
            <a:off x="6399469" y="1629794"/>
            <a:ext cx="370284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 err="1">
                <a:solidFill>
                  <a:srgbClr val="334155"/>
                </a:solidFill>
                <a:latin typeface="Inter"/>
              </a:rPr>
              <a:t>Tarjetas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de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indicadores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creadas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1896C191-F08C-0F05-EA43-B944B7840C0F}"/>
              </a:ext>
            </a:extLst>
          </p:cNvPr>
          <p:cNvSpPr txBox="1"/>
          <p:nvPr/>
        </p:nvSpPr>
        <p:spPr>
          <a:xfrm>
            <a:off x="6392101" y="2115705"/>
            <a:ext cx="34528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>
                <a:solidFill>
                  <a:srgbClr val="334155"/>
                </a:solidFill>
                <a:latin typeface="Inter"/>
              </a:rPr>
              <a:t>29M Ventas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Totales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validadas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61F8AED8-D37C-9DF6-3781-9F294C237ED9}"/>
              </a:ext>
            </a:extLst>
          </p:cNvPr>
          <p:cNvSpPr txBox="1"/>
          <p:nvPr/>
        </p:nvSpPr>
        <p:spPr>
          <a:xfrm>
            <a:off x="6399469" y="2603384"/>
            <a:ext cx="265509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1" dirty="0">
                <a:solidFill>
                  <a:srgbClr val="334155"/>
                </a:solidFill>
                <a:latin typeface="Inter"/>
              </a:rPr>
              <a:t>28K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Pedidos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1" dirty="0" err="1">
                <a:solidFill>
                  <a:srgbClr val="334155"/>
                </a:solidFill>
                <a:latin typeface="Inter"/>
              </a:rPr>
              <a:t>validados</a:t>
            </a:r>
            <a:r>
              <a:rPr sz="1500" b="1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99769" y="0"/>
            <a:ext cx="9525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6" y="0"/>
            <a:ext cx="8486774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381000"/>
            <a:ext cx="7238999" cy="72097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79" y="31051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7179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4333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62437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81537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2647950"/>
            <a:ext cx="535574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000" b="1">
                <a:solidFill>
                  <a:srgbClr val="0F172A"/>
                </a:solidFill>
                <a:latin typeface="Inter"/>
              </a:rPr>
              <a:t>Ventas por País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409950"/>
            <a:ext cx="379809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500" b="0">
                <a:solidFill>
                  <a:srgbClr val="334155"/>
                </a:solidFill>
                <a:latin typeface="Inter"/>
              </a:rPr>
              <a:t>Selección de barras horizontales.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829050"/>
            <a:ext cx="266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500" b="0">
                <a:solidFill>
                  <a:srgbClr val="334155"/>
                </a:solidFill>
                <a:latin typeface="Inter"/>
              </a:rPr>
              <a:t>Dimensión país al eje 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248150"/>
            <a:ext cx="26193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500" b="0">
                <a:solidFill>
                  <a:srgbClr val="334155"/>
                </a:solidFill>
                <a:latin typeface="Inter"/>
              </a:rPr>
              <a:t>Ventas Totales al eje 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667250"/>
            <a:ext cx="4000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500" b="0">
                <a:solidFill>
                  <a:srgbClr val="334155"/>
                </a:solidFill>
                <a:latin typeface="Inter"/>
              </a:rPr>
              <a:t>Estados Unidos liderando ingresos.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47825"/>
            <a:ext cx="10972800" cy="554593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4" y="1964735"/>
            <a:ext cx="9212358" cy="4656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2548" y="567146"/>
            <a:ext cx="631328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000" b="1" dirty="0" err="1">
                <a:solidFill>
                  <a:srgbClr val="0F172A"/>
                </a:solidFill>
                <a:latin typeface="Inter"/>
              </a:rPr>
              <a:t>Interactividad</a:t>
            </a:r>
            <a:r>
              <a:rPr sz="3000" b="1" dirty="0">
                <a:solidFill>
                  <a:srgbClr val="0F172A"/>
                </a:solidFill>
                <a:latin typeface="Inter"/>
              </a:rPr>
              <a:t> del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506" y="707436"/>
            <a:ext cx="341709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0" dirty="0" err="1">
                <a:solidFill>
                  <a:srgbClr val="334155"/>
                </a:solidFill>
                <a:latin typeface="Inter"/>
              </a:rPr>
              <a:t>Filtros</a:t>
            </a:r>
            <a:r>
              <a:rPr sz="1500" b="0" dirty="0">
                <a:solidFill>
                  <a:srgbClr val="334155"/>
                </a:solidFill>
                <a:latin typeface="Inter"/>
              </a:rPr>
              <a:t> cruzados </a:t>
            </a:r>
            <a:r>
              <a:rPr sz="1500" b="0" dirty="0" err="1">
                <a:solidFill>
                  <a:srgbClr val="334155"/>
                </a:solidFill>
                <a:latin typeface="Inter"/>
              </a:rPr>
              <a:t>automáticos</a:t>
            </a:r>
            <a:r>
              <a:rPr sz="1500" b="0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506" y="1024346"/>
            <a:ext cx="341709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500" b="0" dirty="0" err="1">
                <a:solidFill>
                  <a:srgbClr val="334155"/>
                </a:solidFill>
                <a:latin typeface="Inter"/>
              </a:rPr>
              <a:t>Actualización</a:t>
            </a:r>
            <a:r>
              <a:rPr sz="1500" b="0" dirty="0">
                <a:solidFill>
                  <a:srgbClr val="334155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Inter"/>
              </a:rPr>
              <a:t>dinámica</a:t>
            </a:r>
            <a:r>
              <a:rPr sz="1500" b="0" dirty="0">
                <a:solidFill>
                  <a:srgbClr val="334155"/>
                </a:solidFill>
                <a:latin typeface="Inter"/>
              </a:rPr>
              <a:t> visual.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79297" y="177303"/>
            <a:ext cx="4360679" cy="3461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Tema </a:t>
            </a:r>
            <a:r>
              <a:rPr lang="en-US" sz="1700" b="0" dirty="0" err="1"/>
              <a:t>oscuro</a:t>
            </a:r>
            <a:r>
              <a:rPr lang="en-US" sz="1700" b="0" dirty="0"/>
              <a:t> </a:t>
            </a:r>
            <a:r>
              <a:rPr lang="en-US" sz="1700" b="0" dirty="0" err="1"/>
              <a:t>aplicado</a:t>
            </a:r>
            <a:r>
              <a:rPr lang="en-US" sz="1700" b="0" dirty="0"/>
              <a:t> y </a:t>
            </a:r>
            <a:r>
              <a:rPr lang="en-US" sz="1700" b="0" dirty="0" err="1"/>
              <a:t>modelo</a:t>
            </a:r>
            <a:r>
              <a:rPr lang="en-US" sz="1700" b="0" dirty="0"/>
              <a:t> </a:t>
            </a:r>
            <a:r>
              <a:rPr lang="en-US" sz="1700" b="0" dirty="0" err="1"/>
              <a:t>guardado</a:t>
            </a:r>
            <a:r>
              <a:rPr lang="en-US" sz="1700" b="0" dirty="0"/>
              <a:t>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4" y="1598540"/>
            <a:ext cx="8528945" cy="4285793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057" y="3797812"/>
            <a:ext cx="2784652" cy="13992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6115049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503</Words>
  <Application>Microsoft Office PowerPoint</Application>
  <PresentationFormat>Presentación en pantalla (4:3)</PresentationFormat>
  <Paragraphs>120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Inter</vt:lpstr>
      <vt:lpstr>Office Theme</vt:lpstr>
      <vt:lpstr>CicloNova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alicia themme</cp:lastModifiedBy>
  <cp:revision>5</cp:revision>
  <dcterms:created xsi:type="dcterms:W3CDTF">2013-01-27T09:14:16Z</dcterms:created>
  <dcterms:modified xsi:type="dcterms:W3CDTF">2026-10-27T16:35:42Z</dcterms:modified>
  <cp:category/>
</cp:coreProperties>
</file>